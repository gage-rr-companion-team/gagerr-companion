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93279ff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93279f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f93279ff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f93279ff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f93279ff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f93279ff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5d8309d41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5d8309d4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f93279ff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f93279ff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93279ff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f93279ff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26911" y="297625"/>
            <a:ext cx="82365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26911" y="93999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8736980" y="77840"/>
            <a:ext cx="407100" cy="994200"/>
          </a:xfrm>
          <a:prstGeom prst="rect">
            <a:avLst/>
          </a:prstGeom>
          <a:solidFill>
            <a:srgbClr val="2D036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363414" y="242001"/>
            <a:ext cx="780600" cy="6660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rgbClr val="2D03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583494" y="440887"/>
            <a:ext cx="306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-369384" y="1126186"/>
            <a:ext cx="4723800" cy="1934700"/>
          </a:xfrm>
          <a:prstGeom prst="rect">
            <a:avLst/>
          </a:prstGeom>
          <a:solidFill>
            <a:srgbClr val="2D036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-434896" y="1668502"/>
            <a:ext cx="5926800" cy="8502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rgbClr val="2D03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 txBox="1"/>
          <p:nvPr>
            <p:ph type="title"/>
          </p:nvPr>
        </p:nvSpPr>
        <p:spPr>
          <a:xfrm>
            <a:off x="628650" y="1668502"/>
            <a:ext cx="78867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7387683" y="4767263"/>
            <a:ext cx="112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>
              <a:spcBef>
                <a:spcPts val="800"/>
              </a:spcBef>
              <a:spcAft>
                <a:spcPts val="0"/>
              </a:spcAft>
              <a:buSzPts val="1500"/>
              <a:buChar char="•"/>
              <a:defRPr/>
            </a:lvl1pPr>
            <a:lvl2pPr indent="-323850" lvl="1" marL="9144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23850" lvl="3" marL="18288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4pPr>
            <a:lvl5pPr indent="-323850" lvl="4" marL="22860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flipH="1">
            <a:off x="2237993" y="4385497"/>
            <a:ext cx="6906000" cy="755400"/>
          </a:xfrm>
          <a:prstGeom prst="rtTriangle">
            <a:avLst/>
          </a:prstGeom>
          <a:solidFill>
            <a:schemeClr val="lt1"/>
          </a:solidFill>
          <a:ln cap="flat" cmpd="sng" w="14300">
            <a:solidFill>
              <a:srgbClr val="2D03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 flipH="1">
            <a:off x="2238000" y="4551252"/>
            <a:ext cx="6906000" cy="589500"/>
          </a:xfrm>
          <a:prstGeom prst="rtTriangle">
            <a:avLst/>
          </a:prstGeom>
          <a:solidFill>
            <a:srgbClr val="2D036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-up of a sign&#10;&#10;AI-generated content may be incorrect."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598508"/>
            <a:ext cx="2238118" cy="54229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e2Q7M_LIqJBuDZEhO1oCXnZfLCFgjgb_/view" TargetMode="External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Gage R&amp;R Companion</a:t>
            </a:r>
            <a:endParaRPr/>
          </a:p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ChemE 546 Final Project</a:t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Mason Keller, Henry Nguyen, Logan Sayyadi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&amp; Motivation</a:t>
            </a:r>
            <a:endParaRPr/>
          </a:p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u="sng"/>
              <a:t>Background:</a:t>
            </a:r>
            <a:endParaRPr b="1" u="sng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Every process has some degree of variability. Knowing </a:t>
            </a:r>
            <a:r>
              <a:rPr lang="en"/>
              <a:t>the uncertainty associated with a given process informs decision making, and fuels continuous process improvement.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"/>
              <a:t>Repeatability</a:t>
            </a:r>
            <a:r>
              <a:rPr lang="en"/>
              <a:t> - Variability as a result of the instrument/process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"/>
              <a:t>Reproducibility</a:t>
            </a:r>
            <a:r>
              <a:rPr lang="en"/>
              <a:t> - User-to-user variability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If you are in a production space </a:t>
            </a:r>
            <a:r>
              <a:rPr lang="en" u="sng"/>
              <a:t>both</a:t>
            </a:r>
            <a:r>
              <a:rPr lang="en"/>
              <a:t> will play significant roles in the quality of your final product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u="sng"/>
              <a:t>Motivation:</a:t>
            </a:r>
            <a:endParaRPr b="1" u="sng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Large companies frequently employ Gage R&amp;R, a type of experiment designed to characterize the repeatability and </a:t>
            </a:r>
            <a:r>
              <a:rPr lang="en"/>
              <a:t>reproducibility</a:t>
            </a:r>
            <a:r>
              <a:rPr lang="en"/>
              <a:t> of a process or instrument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Heavily</a:t>
            </a:r>
            <a:r>
              <a:rPr lang="en"/>
              <a:t> reliant on the software Minitab to design experiment and analyze data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Minitab costs up to $3000 / year per person, and is typically out of the question for small companies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Overview/Decision making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u="sng"/>
              <a:t>Objective:</a:t>
            </a:r>
            <a:endParaRPr b="1" u="sng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Design open-source software that can assist with the design of Gage R&amp;R experiments, and analyze the data for tangible next steps. We want our software to be </a:t>
            </a:r>
            <a:r>
              <a:rPr lang="en" u="sng"/>
              <a:t>reliable</a:t>
            </a:r>
            <a:r>
              <a:rPr lang="en"/>
              <a:t> and </a:t>
            </a:r>
            <a:r>
              <a:rPr lang="en" u="sng"/>
              <a:t>easy to use</a:t>
            </a:r>
            <a:r>
              <a:rPr lang="en"/>
              <a:t>, while still being able to do detailed analysis.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u="sng"/>
              <a:t>Major Dependencies:</a:t>
            </a:r>
            <a:endParaRPr b="1" u="sng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Pandas and numpy used for backend calculations.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Reliable and well documented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Streamlit used for the GUI.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Easy to code, less likely to have mistakes.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Well documented - LLMs have more examples to help code with.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Compatible with existing pipeline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Altair used for plots.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Easy to code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Aesthetic, interactable plots.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>
            <a:off x="5368500" y="1218950"/>
            <a:ext cx="3408900" cy="19992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- Front End</a:t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3937300" y="2685150"/>
            <a:ext cx="925200" cy="8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Landing Page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5553675" y="1865838"/>
            <a:ext cx="925200" cy="8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Upload CSV</a:t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7278600" y="1339800"/>
            <a:ext cx="1208400" cy="8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Control Charts</a:t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5553675" y="3482575"/>
            <a:ext cx="925200" cy="8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started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7278600" y="2302325"/>
            <a:ext cx="1371900" cy="8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Metrics and Interpretation</a:t>
            </a:r>
            <a:endParaRPr/>
          </a:p>
        </p:txBody>
      </p:sp>
      <p:cxnSp>
        <p:nvCxnSpPr>
          <p:cNvPr id="119" name="Google Shape;119;p18"/>
          <p:cNvCxnSpPr>
            <a:stCxn id="114" idx="3"/>
            <a:endCxn id="115" idx="1"/>
          </p:cNvCxnSpPr>
          <p:nvPr/>
        </p:nvCxnSpPr>
        <p:spPr>
          <a:xfrm flipH="1" rot="10800000">
            <a:off x="4862500" y="2275500"/>
            <a:ext cx="691200" cy="8193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8"/>
          <p:cNvCxnSpPr>
            <a:stCxn id="114" idx="3"/>
            <a:endCxn id="117" idx="1"/>
          </p:cNvCxnSpPr>
          <p:nvPr/>
        </p:nvCxnSpPr>
        <p:spPr>
          <a:xfrm>
            <a:off x="4862500" y="3094800"/>
            <a:ext cx="691200" cy="7974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8"/>
          <p:cNvCxnSpPr>
            <a:stCxn id="115" idx="3"/>
            <a:endCxn id="116" idx="1"/>
          </p:cNvCxnSpPr>
          <p:nvPr/>
        </p:nvCxnSpPr>
        <p:spPr>
          <a:xfrm flipH="1" rot="10800000">
            <a:off x="6478875" y="1749588"/>
            <a:ext cx="799800" cy="5259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8"/>
          <p:cNvCxnSpPr>
            <a:stCxn id="115" idx="3"/>
            <a:endCxn id="118" idx="1"/>
          </p:cNvCxnSpPr>
          <p:nvPr/>
        </p:nvCxnSpPr>
        <p:spPr>
          <a:xfrm>
            <a:off x="6478875" y="2275488"/>
            <a:ext cx="799800" cy="4365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8"/>
          <p:cNvSpPr/>
          <p:nvPr/>
        </p:nvSpPr>
        <p:spPr>
          <a:xfrm>
            <a:off x="5368500" y="3319400"/>
            <a:ext cx="1307100" cy="11718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4326000" y="1218950"/>
            <a:ext cx="10425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8761D"/>
                </a:solidFill>
              </a:rPr>
              <a:t>Analysis</a:t>
            </a:r>
            <a:endParaRPr b="1" sz="1500">
              <a:solidFill>
                <a:srgbClr val="38761D"/>
              </a:solidFill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668225" y="4098200"/>
            <a:ext cx="1700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0000"/>
                </a:solidFill>
              </a:rPr>
              <a:t>Documentation</a:t>
            </a:r>
            <a:endParaRPr b="1" sz="1500">
              <a:solidFill>
                <a:srgbClr val="990000"/>
              </a:solidFill>
            </a:endParaRPr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311700" y="1152475"/>
            <a:ext cx="26685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Utilizes Streamlit as the primary GUI for interaction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Starts on landing page that leads to either </a:t>
            </a:r>
            <a:r>
              <a:rPr b="1" lang="en">
                <a:solidFill>
                  <a:srgbClr val="38761D"/>
                </a:solidFill>
              </a:rPr>
              <a:t>analysis</a:t>
            </a:r>
            <a:r>
              <a:rPr b="1" lang="en"/>
              <a:t> </a:t>
            </a:r>
            <a:r>
              <a:rPr lang="en"/>
              <a:t>or </a:t>
            </a:r>
            <a:r>
              <a:rPr b="1" lang="en">
                <a:solidFill>
                  <a:srgbClr val="990000"/>
                </a:solidFill>
              </a:rPr>
              <a:t>documentation</a:t>
            </a:r>
            <a:endParaRPr b="1">
              <a:solidFill>
                <a:srgbClr val="99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Charts and metrics can be seen in </a:t>
            </a:r>
            <a:r>
              <a:rPr b="1" lang="en">
                <a:solidFill>
                  <a:srgbClr val="38761D"/>
                </a:solidFill>
              </a:rPr>
              <a:t>analysis</a:t>
            </a:r>
            <a:endParaRPr b="1">
              <a:solidFill>
                <a:srgbClr val="38761D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General info and guides can be seen in </a:t>
            </a:r>
            <a:r>
              <a:rPr b="1" lang="en">
                <a:solidFill>
                  <a:srgbClr val="990000"/>
                </a:solidFill>
              </a:rPr>
              <a:t>documentation</a:t>
            </a:r>
            <a:endParaRPr b="1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- Back End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311700" y="1152475"/>
            <a:ext cx="26685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Used same algorithms as Minitab for </a:t>
            </a:r>
            <a:r>
              <a:rPr lang="en"/>
              <a:t>variant</a:t>
            </a:r>
            <a:r>
              <a:rPr lang="en"/>
              <a:t> </a:t>
            </a:r>
            <a:r>
              <a:rPr lang="en"/>
              <a:t>component</a:t>
            </a:r>
            <a:r>
              <a:rPr lang="en"/>
              <a:t> calculation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D</a:t>
            </a:r>
            <a:r>
              <a:rPr lang="en"/>
              <a:t>ata validation, ANOVA, variance components, and summary table computed sequentially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Outputs </a:t>
            </a:r>
            <a:r>
              <a:rPr lang="en"/>
              <a:t>graded against industry standard thresholds (&lt;10%=Acceptable, 10-30%=Marginal, &gt;30%=Unacceptable)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3520550" y="1944650"/>
            <a:ext cx="1431900" cy="8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.csv file</a:t>
            </a:r>
            <a:endParaRPr/>
          </a:p>
        </p:txBody>
      </p:sp>
      <p:cxnSp>
        <p:nvCxnSpPr>
          <p:cNvPr id="134" name="Google Shape;134;p19"/>
          <p:cNvCxnSpPr>
            <a:stCxn id="133" idx="3"/>
          </p:cNvCxnSpPr>
          <p:nvPr/>
        </p:nvCxnSpPr>
        <p:spPr>
          <a:xfrm>
            <a:off x="4952450" y="2354300"/>
            <a:ext cx="20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9"/>
          <p:cNvSpPr/>
          <p:nvPr/>
        </p:nvSpPr>
        <p:spPr>
          <a:xfrm>
            <a:off x="5161850" y="1944650"/>
            <a:ext cx="1431900" cy="8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6966950" y="1458825"/>
            <a:ext cx="1865400" cy="8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Charts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Charts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Box Charts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6978350" y="2430475"/>
            <a:ext cx="1865400" cy="8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 Table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cxnSp>
        <p:nvCxnSpPr>
          <p:cNvPr id="138" name="Google Shape;138;p19"/>
          <p:cNvCxnSpPr/>
          <p:nvPr/>
        </p:nvCxnSpPr>
        <p:spPr>
          <a:xfrm>
            <a:off x="6593738" y="2354300"/>
            <a:ext cx="18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9"/>
          <p:cNvCxnSpPr>
            <a:stCxn id="136" idx="1"/>
          </p:cNvCxnSpPr>
          <p:nvPr/>
        </p:nvCxnSpPr>
        <p:spPr>
          <a:xfrm rot="10800000">
            <a:off x="6778850" y="1868475"/>
            <a:ext cx="18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9"/>
          <p:cNvCxnSpPr/>
          <p:nvPr/>
        </p:nvCxnSpPr>
        <p:spPr>
          <a:xfrm rot="10800000">
            <a:off x="6778850" y="2840125"/>
            <a:ext cx="18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6786050" y="1866850"/>
            <a:ext cx="0" cy="98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9"/>
          <p:cNvSpPr/>
          <p:nvPr/>
        </p:nvSpPr>
        <p:spPr>
          <a:xfrm>
            <a:off x="3058550" y="3509725"/>
            <a:ext cx="5773800" cy="62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Outputs:</a:t>
            </a:r>
            <a:r>
              <a:rPr lang="en"/>
              <a:t> % Reproducibility, % repeatability, %Part-to-Part and Classification.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148" name="Google Shape;148;p20" title="demo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1437" y="1068425"/>
            <a:ext cx="5421128" cy="343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 (Focus for 547)</a:t>
            </a:r>
            <a:endParaRPr/>
          </a:p>
        </p:txBody>
      </p:sp>
      <p:sp>
        <p:nvSpPr>
          <p:cNvPr id="154" name="Google Shape;15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Update app to accommodate different types of Gage testing,  all of which utilize our existing pipeline: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Crossed </a:t>
            </a:r>
            <a:r>
              <a:rPr b="1" lang="en">
                <a:solidFill>
                  <a:schemeClr val="accent3"/>
                </a:solidFill>
              </a:rPr>
              <a:t>(Done!)</a:t>
            </a:r>
            <a:endParaRPr b="1" u="sng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Nested</a:t>
            </a:r>
            <a:endParaRPr b="1">
              <a:solidFill>
                <a:srgbClr val="757575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Expanded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Type 1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Assisting with Gage design of experiment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Using decision tree style </a:t>
            </a:r>
            <a:r>
              <a:rPr lang="en"/>
              <a:t>flowchart</a:t>
            </a:r>
            <a:r>
              <a:rPr lang="en"/>
              <a:t> to guide user to the correct type of Gage test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Potentially using an LLM agent to assist with experimental design: number of operators, number of replicates, etc.</a:t>
            </a:r>
            <a:endParaRPr b="1">
              <a:solidFill>
                <a:srgbClr val="757575"/>
              </a:solidFill>
            </a:endParaRPr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57575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Additional improvements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Recommended follow-up actions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GUI refinements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W ChemE Templat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