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regular.fntdata"/><Relationship Id="rId14" Type="http://schemas.openxmlformats.org/officeDocument/2006/relationships/slide" Target="slides/slide9.xml"/><Relationship Id="rId16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4e620f4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4e620f4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4e620f44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4e620f44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d6478f84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d6478f84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4e620f44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4e620f44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d6478f840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d6478f840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4e620f44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4e620f4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d6478f840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d6478f840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4e620f44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c4e620f44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26911" y="297625"/>
            <a:ext cx="8236500" cy="5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26911" y="93999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238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indent="-3238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>
            <a:off x="8736980" y="77840"/>
            <a:ext cx="407100" cy="994200"/>
          </a:xfrm>
          <a:prstGeom prst="rect">
            <a:avLst/>
          </a:prstGeom>
          <a:solidFill>
            <a:srgbClr val="2D03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363414" y="242001"/>
            <a:ext cx="780600" cy="6660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rgbClr val="2D03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8583494" y="440887"/>
            <a:ext cx="3069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i="0" sz="1100" u="none" cap="none" strike="noStrike">
                <a:solidFill>
                  <a:srgbClr val="2D036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623888" y="3442097"/>
            <a:ext cx="78867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629841" y="1260872"/>
            <a:ext cx="38682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629841" y="1878806"/>
            <a:ext cx="38682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29150" y="1878806"/>
            <a:ext cx="38874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62984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62984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-369384" y="1126186"/>
            <a:ext cx="4723800" cy="1934700"/>
          </a:xfrm>
          <a:prstGeom prst="rect">
            <a:avLst/>
          </a:prstGeom>
          <a:solidFill>
            <a:srgbClr val="2D03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-434896" y="1668502"/>
            <a:ext cx="5926800" cy="8502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rgbClr val="2D03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628650" y="1668502"/>
            <a:ext cx="7886700" cy="850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7387683" y="4767263"/>
            <a:ext cx="1127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1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>
              <a:spcBef>
                <a:spcPts val="800"/>
              </a:spcBef>
              <a:spcAft>
                <a:spcPts val="0"/>
              </a:spcAft>
              <a:buSzPts val="1500"/>
              <a:buChar char="•"/>
              <a:defRPr/>
            </a:lvl1pPr>
            <a:lvl2pPr indent="-323850" lvl="1" marL="9144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23850" lvl="3" marL="18288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4pPr>
            <a:lvl5pPr indent="-323850" lvl="4" marL="22860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flipH="1">
            <a:off x="2237993" y="4385497"/>
            <a:ext cx="6906000" cy="755400"/>
          </a:xfrm>
          <a:prstGeom prst="rtTriangle">
            <a:avLst/>
          </a:prstGeom>
          <a:solidFill>
            <a:schemeClr val="lt1"/>
          </a:solidFill>
          <a:ln cap="flat" cmpd="sng" w="14300">
            <a:solidFill>
              <a:srgbClr val="2D036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 flipH="1">
            <a:off x="2238000" y="4551252"/>
            <a:ext cx="6906000" cy="589500"/>
          </a:xfrm>
          <a:prstGeom prst="rtTriangle">
            <a:avLst/>
          </a:prstGeom>
          <a:solidFill>
            <a:srgbClr val="2D0369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close-up of a sign&#10;&#10;AI-generated content may be incorrect."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4598508"/>
            <a:ext cx="2238118" cy="54229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pythonguis.com/pyqt6/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streamlit.io/develop/tutorials/chat-and-llm-apps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GUI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 Review</a:t>
            </a:r>
            <a:endParaRPr/>
          </a:p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1143000" y="2819704"/>
            <a:ext cx="6858000" cy="124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Mason Keller, Logan Sayyadi, Henry Nguyen</a:t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2413200" y="2735124"/>
            <a:ext cx="4317600" cy="34200"/>
          </a:xfrm>
          <a:prstGeom prst="rect">
            <a:avLst/>
          </a:prstGeom>
          <a:solidFill>
            <a:srgbClr val="2D0369"/>
          </a:solidFill>
          <a:ln cap="flat" cmpd="sng" w="9525">
            <a:solidFill>
              <a:srgbClr val="2D03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want in</a:t>
            </a:r>
            <a:r>
              <a:rPr lang="en"/>
              <a:t> UI design</a:t>
            </a:r>
            <a:endParaRPr/>
          </a:p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311700" y="1152475"/>
            <a:ext cx="8671800" cy="3434700"/>
          </a:xfrm>
          <a:prstGeom prst="rect">
            <a:avLst/>
          </a:prstGeom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/>
              <a:t>Ease of use: </a:t>
            </a:r>
            <a:r>
              <a:rPr lang="en"/>
              <a:t>How quickly can it be learned? Is deep framework knowledge required for simple task?</a:t>
            </a:r>
            <a:endParaRPr/>
          </a:p>
          <a:p>
            <a:pPr indent="-171450" lvl="1" marL="5207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1" lang="en">
                <a:solidFill>
                  <a:schemeClr val="accent3"/>
                </a:solidFill>
              </a:rPr>
              <a:t>Want: </a:t>
            </a:r>
            <a:r>
              <a:rPr lang="en"/>
              <a:t>Easy to learn, able to work with minimal knowledge of GUI framework.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/>
              <a:t>Lines of Code: </a:t>
            </a:r>
            <a:r>
              <a:rPr lang="en"/>
              <a:t>How many lines of code are required to render a component? </a:t>
            </a:r>
            <a:endParaRPr/>
          </a:p>
          <a:p>
            <a:pPr indent="-171450" lvl="1" marL="5207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1" lang="en">
                <a:solidFill>
                  <a:schemeClr val="accent3"/>
                </a:solidFill>
              </a:rPr>
              <a:t>Want: </a:t>
            </a:r>
            <a:r>
              <a:rPr lang="en"/>
              <a:t>Simple.</a:t>
            </a:r>
            <a:r>
              <a:rPr b="1" lang="en"/>
              <a:t> </a:t>
            </a:r>
            <a:r>
              <a:rPr lang="en"/>
              <a:t>Minimal lines of code per component.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/>
              <a:t>Integration: </a:t>
            </a:r>
            <a:r>
              <a:rPr lang="en"/>
              <a:t>How easy is it to plug into our existing code?</a:t>
            </a:r>
            <a:endParaRPr/>
          </a:p>
          <a:p>
            <a:pPr indent="-171450" lvl="1" marL="5207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1" lang="en">
                <a:solidFill>
                  <a:schemeClr val="accent3"/>
                </a:solidFill>
              </a:rPr>
              <a:t>Want:</a:t>
            </a:r>
            <a:r>
              <a:rPr lang="en"/>
              <a:t> Easy, plug and play with the analysis tools we’ve built.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/>
              <a:t>Data Display: </a:t>
            </a:r>
            <a:r>
              <a:rPr lang="en"/>
              <a:t>Is there built-in support for figures relevant to Gage R&amp;R?</a:t>
            </a:r>
            <a:endParaRPr/>
          </a:p>
          <a:p>
            <a:pPr indent="-171450" lvl="1" marL="5207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1" lang="en">
                <a:solidFill>
                  <a:schemeClr val="accent3"/>
                </a:solidFill>
              </a:rPr>
              <a:t>Want:</a:t>
            </a:r>
            <a:r>
              <a:rPr b="1" lang="en"/>
              <a:t> </a:t>
            </a:r>
            <a:r>
              <a:rPr lang="en"/>
              <a:t>Supports figures generated using altair and has ability to display tables.</a:t>
            </a:r>
            <a:endParaRPr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AutoNum type="arabicPeriod"/>
            </a:pPr>
            <a:r>
              <a:rPr b="1" lang="en"/>
              <a:t>Deployment: </a:t>
            </a:r>
            <a:r>
              <a:rPr lang="en"/>
              <a:t>Do you need to install it or is it web based? Can anyone reasonably run it?</a:t>
            </a:r>
            <a:endParaRPr/>
          </a:p>
          <a:p>
            <a:pPr indent="-171450" lvl="1" marL="5207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1" lang="en">
                <a:solidFill>
                  <a:schemeClr val="accent3"/>
                </a:solidFill>
              </a:rPr>
              <a:t>Want:</a:t>
            </a:r>
            <a:r>
              <a:rPr lang="en"/>
              <a:t> Web-based. No technical knowledge required for users to install &amp; run app.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PyQt6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Pros:</a:t>
            </a:r>
            <a:endParaRPr b="1">
              <a:solidFill>
                <a:schemeClr val="accent3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P</a:t>
            </a:r>
            <a:r>
              <a:rPr lang="en"/>
              <a:t>rofessional and customizable 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Runs fully offline with no server or browser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Well documented with lots of Stack Overflow answers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Allows for multi-window applications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Great for visualizing data</a:t>
            </a:r>
            <a:r>
              <a:rPr lang="en"/>
              <a:t>: Can add spreadsheet tables and embed plots for easy use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Cons:</a:t>
            </a:r>
            <a:endParaRPr b="1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Steep Learning Curve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A lot of </a:t>
            </a:r>
            <a:r>
              <a:rPr lang="en"/>
              <a:t>repetitive</a:t>
            </a:r>
            <a:r>
              <a:rPr lang="en"/>
              <a:t> code for simple features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May</a:t>
            </a:r>
            <a:r>
              <a:rPr lang="en"/>
              <a:t> </a:t>
            </a:r>
            <a:r>
              <a:rPr lang="en"/>
              <a:t>be tedious to integrate with existing code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Not designed with pandas/numpy workflow in mind</a:t>
            </a:r>
            <a:endParaRPr/>
          </a:p>
        </p:txBody>
      </p:sp>
      <p:pic>
        <p:nvPicPr>
          <p:cNvPr id="109" name="Google Shape;10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0801" y="567818"/>
            <a:ext cx="2841500" cy="37782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PyQt6 - Gage R&amp;R Application</a:t>
            </a:r>
            <a:endParaRPr/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311700" y="1152475"/>
            <a:ext cx="3993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u="sng"/>
              <a:t>Incorporated Components:</a:t>
            </a:r>
            <a:endParaRPr b="1" u="sng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File upload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Gage R&amp;R analysis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ANOVA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Gage R&amp;R Table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Variance breakdown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Repeatability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Reproducibility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Summary</a:t>
            </a:r>
            <a:endParaRPr/>
          </a:p>
        </p:txBody>
      </p:sp>
      <p:sp>
        <p:nvSpPr>
          <p:cNvPr id="116" name="Google Shape;116;p18"/>
          <p:cNvSpPr txBox="1"/>
          <p:nvPr/>
        </p:nvSpPr>
        <p:spPr>
          <a:xfrm>
            <a:off x="4996286" y="1068425"/>
            <a:ext cx="21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GUI Output:</a:t>
            </a:r>
            <a:endParaRPr b="1" sz="1500" u="sng">
              <a:solidFill>
                <a:schemeClr val="dk1"/>
              </a:solidFill>
            </a:endParaRPr>
          </a:p>
        </p:txBody>
      </p:sp>
      <p:pic>
        <p:nvPicPr>
          <p:cNvPr id="117" name="Google Shape;11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946" y="1555546"/>
            <a:ext cx="5724150" cy="16850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" name="Google Shape;118;p18"/>
          <p:cNvSpPr txBox="1"/>
          <p:nvPr/>
        </p:nvSpPr>
        <p:spPr>
          <a:xfrm>
            <a:off x="4996286" y="3486225"/>
            <a:ext cx="21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Lines of Code</a:t>
            </a:r>
            <a:r>
              <a:rPr b="1" lang="en" sz="1500">
                <a:solidFill>
                  <a:schemeClr val="dk1"/>
                </a:solidFill>
              </a:rPr>
              <a:t>:</a:t>
            </a:r>
            <a:r>
              <a:rPr b="1" lang="en" sz="1500">
                <a:solidFill>
                  <a:schemeClr val="dk1"/>
                </a:solidFill>
              </a:rPr>
              <a:t> </a:t>
            </a:r>
            <a:r>
              <a:rPr lang="en" sz="1500">
                <a:solidFill>
                  <a:schemeClr val="dk1"/>
                </a:solidFill>
              </a:rPr>
              <a:t>158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PyShiny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Pros:</a:t>
            </a:r>
            <a:endParaRPr b="1">
              <a:solidFill>
                <a:schemeClr val="accent3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Designed for data and statistics, easy to display tables and charts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Reactive design such that when an input changes only the affected outputs re-run and update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Web-based so no installation is needed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Cons:</a:t>
            </a:r>
            <a:endParaRPr b="1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Small community and is therefore hard to find help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Steep learning curve, have to understand reactivity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Framework is still maturing </a:t>
            </a:r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800" y="546250"/>
            <a:ext cx="2841500" cy="420962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PyShiny - Gage R&amp;R Application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152475"/>
            <a:ext cx="3993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u="sng"/>
              <a:t>Incorporated Components:</a:t>
            </a:r>
            <a:endParaRPr b="1" u="sng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File upload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Gage R&amp;R analysis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ANOVA </a:t>
            </a:r>
            <a:r>
              <a:rPr b="1" lang="en"/>
              <a:t>(Pictured on right)</a:t>
            </a:r>
            <a:endParaRPr b="1"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(Not pictured)</a:t>
            </a:r>
            <a:endParaRPr b="1"/>
          </a:p>
          <a:p>
            <a:pPr indent="-323850" lvl="1" marL="9144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Gage R&amp;R Table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Variance breakdown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Repeatability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Reproducibility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Summary</a:t>
            </a:r>
            <a:endParaRPr/>
          </a:p>
        </p:txBody>
      </p:sp>
      <p:sp>
        <p:nvSpPr>
          <p:cNvPr id="132" name="Google Shape;132;p20"/>
          <p:cNvSpPr txBox="1"/>
          <p:nvPr/>
        </p:nvSpPr>
        <p:spPr>
          <a:xfrm>
            <a:off x="4996286" y="1068425"/>
            <a:ext cx="21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GUI Output:</a:t>
            </a:r>
            <a:endParaRPr b="1" sz="1500" u="sng">
              <a:solidFill>
                <a:schemeClr val="dk1"/>
              </a:solidFill>
            </a:endParaRPr>
          </a:p>
        </p:txBody>
      </p:sp>
      <p:sp>
        <p:nvSpPr>
          <p:cNvPr id="133" name="Google Shape;133;p20"/>
          <p:cNvSpPr txBox="1"/>
          <p:nvPr/>
        </p:nvSpPr>
        <p:spPr>
          <a:xfrm>
            <a:off x="4996286" y="4075075"/>
            <a:ext cx="21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Lines of Code</a:t>
            </a:r>
            <a:r>
              <a:rPr b="1" lang="en" sz="1500">
                <a:solidFill>
                  <a:schemeClr val="dk1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91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8150" y="1524525"/>
            <a:ext cx="3797748" cy="25099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</a:rPr>
              <a:t>Pros:</a:t>
            </a:r>
            <a:endParaRPr b="1">
              <a:solidFill>
                <a:schemeClr val="accent3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Minimal lines of code needed for tables, charts, etc.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Easy to integrate with existing code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Huge community with lots of answers on Stack Overflow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Web-based so no installation is needed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Lots of </a:t>
            </a:r>
            <a:r>
              <a:rPr lang="en" u="sng">
                <a:solidFill>
                  <a:schemeClr val="hlink"/>
                </a:solidFill>
                <a:hlinkClick r:id="rId3"/>
              </a:rPr>
              <a:t>formal documentation</a:t>
            </a:r>
            <a:r>
              <a:rPr lang="en"/>
              <a:t> with examples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Cons:</a:t>
            </a:r>
            <a:endParaRPr b="1">
              <a:solidFill>
                <a:srgbClr val="FF0000"/>
              </a:solidFill>
            </a:endParaRPr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Runs whole script every time the input changes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Not built for multi-page complexity and has limited control over layouts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0800" y="560238"/>
            <a:ext cx="2841502" cy="3929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StreamLit - Gage R&amp;R Application</a:t>
            </a:r>
            <a:endParaRPr/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311700" y="1152475"/>
            <a:ext cx="3993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u="sng"/>
              <a:t>Incorporated Components:</a:t>
            </a:r>
            <a:endParaRPr b="1" u="sng"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File upload</a:t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Gage R&amp;R analysis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ANOVA </a:t>
            </a:r>
            <a:r>
              <a:rPr b="1" lang="en"/>
              <a:t>(Pictured on right)</a:t>
            </a:r>
            <a:endParaRPr b="1"/>
          </a:p>
          <a:p>
            <a:pPr indent="0" lvl="0" marL="91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/>
              <a:t>(Not pictured)</a:t>
            </a:r>
            <a:endParaRPr b="1"/>
          </a:p>
          <a:p>
            <a:pPr indent="-323850" lvl="1" marL="914400" rtl="0" algn="l"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Gage R&amp;R Table 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Variance breakdown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Repeatability</a:t>
            </a:r>
            <a:endParaRPr/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Reproducibility</a:t>
            </a:r>
            <a:endParaRPr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lang="en"/>
              <a:t>Summary</a:t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4996286" y="1068425"/>
            <a:ext cx="21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GUI Output:</a:t>
            </a:r>
            <a:endParaRPr b="1" sz="1500" u="sng">
              <a:solidFill>
                <a:schemeClr val="dk1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4996286" y="4153375"/>
            <a:ext cx="2101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 u="sng">
                <a:solidFill>
                  <a:schemeClr val="dk1"/>
                </a:solidFill>
              </a:rPr>
              <a:t>Lines of Code</a:t>
            </a:r>
            <a:r>
              <a:rPr b="1" lang="en" sz="1500">
                <a:solidFill>
                  <a:schemeClr val="dk1"/>
                </a:solidFill>
              </a:rPr>
              <a:t>: </a:t>
            </a:r>
            <a:r>
              <a:rPr lang="en" sz="1500">
                <a:solidFill>
                  <a:schemeClr val="dk1"/>
                </a:solidFill>
              </a:rPr>
              <a:t>23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775" y="1483925"/>
            <a:ext cx="3580501" cy="263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Fit</a:t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We have decided to go with </a:t>
            </a:r>
            <a:r>
              <a:rPr b="1" lang="en"/>
              <a:t>StreamLit </a:t>
            </a:r>
            <a:r>
              <a:rPr lang="en"/>
              <a:t>for the following </a:t>
            </a:r>
            <a:r>
              <a:rPr lang="en"/>
              <a:t>reasons: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There is minimal code and it is easy to learn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Built-in table and chart support is a natural fit for displaying tables and graphs </a:t>
            </a:r>
            <a:r>
              <a:rPr lang="en"/>
              <a:t>include</a:t>
            </a:r>
            <a:r>
              <a:rPr lang="en"/>
              <a:t> in Gage R&amp;R results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Popular and very well documented online. Lots of references for </a:t>
            </a:r>
            <a:r>
              <a:rPr lang="en"/>
              <a:t>LLMs</a:t>
            </a:r>
            <a:r>
              <a:rPr lang="en"/>
              <a:t> to use when creating components</a:t>
            </a:r>
            <a:endParaRPr/>
          </a:p>
          <a:p>
            <a:pPr indent="-323850" lvl="0" marL="457200" rtl="0" algn="l">
              <a:spcBef>
                <a:spcPts val="800"/>
              </a:spcBef>
              <a:spcAft>
                <a:spcPts val="0"/>
              </a:spcAft>
              <a:buSzPts val="1500"/>
              <a:buChar char="-"/>
            </a:pPr>
            <a:r>
              <a:rPr lang="en"/>
              <a:t>Priority for our tool is clear data display, ease of use, and fast results. StreamLit is built with that purpose in mind</a:t>
            </a:r>
            <a:endParaRPr/>
          </a:p>
          <a:p>
            <a:pPr indent="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UW ChemE Templat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